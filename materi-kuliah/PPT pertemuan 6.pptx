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71" r:id="rId9"/>
    <p:sldId id="263" r:id="rId10"/>
    <p:sldId id="264" r:id="rId11"/>
    <p:sldId id="266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80" r:id="rId21"/>
    <p:sldId id="279" r:id="rId2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9085-DF1A-4B85-B77E-D70D3BE24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92E9D-2241-4F18-A977-238AD53D7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73CD7-0A72-4C43-AFBF-4420D68E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B694B-EF88-4DF6-9914-65FD471F4DF2}" type="datetimeFigureOut">
              <a:rPr lang="id-ID" smtClean="0"/>
              <a:t>22/03/2021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7345-39F0-4317-A7ED-9BDD54113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50563-FB70-4A2C-ABD6-AC2420EB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AFFC-0457-48C0-968C-2B3063A54D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3374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63B8-25D4-4CC1-8CEE-50FE77971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08073-D625-42DB-B64E-3371E8292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476F-8E7A-41AE-B6E0-145057540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B694B-EF88-4DF6-9914-65FD471F4DF2}" type="datetimeFigureOut">
              <a:rPr lang="id-ID" smtClean="0"/>
              <a:t>22/03/2021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C8B1E-FAE6-4D2B-B4FF-6DB03967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4CDAB-E68B-4A54-AEBC-78117235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AFFC-0457-48C0-968C-2B3063A54D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02368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CEAB-D84B-4CB7-8DD6-3E202FE71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98E6F-8FB0-4E14-8725-BF75901EA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3BB6C-399A-46B8-BB94-89F75969A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B694B-EF88-4DF6-9914-65FD471F4DF2}" type="datetimeFigureOut">
              <a:rPr lang="id-ID" smtClean="0"/>
              <a:t>22/03/2021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64935-179D-4D55-A383-5FE345F1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39A1E-034B-4D0D-AE9F-7E78A517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AFFC-0457-48C0-968C-2B3063A54D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9714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9541F-919F-4178-87FE-166FF59E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828F0-C9DF-42E2-BADF-DA58B52F5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C820B-08B9-409F-ADF1-C6BA2340A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43F2D-F12C-40D0-911E-2161CABBB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B694B-EF88-4DF6-9914-65FD471F4DF2}" type="datetimeFigureOut">
              <a:rPr lang="id-ID" smtClean="0"/>
              <a:t>22/03/2021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E115A-B365-41A6-870D-4FEE8A73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1F64F-5DC9-4330-8BD5-C2A01850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AFFC-0457-48C0-968C-2B3063A54D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1422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173D-59C7-438D-8206-84A94B66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9A739-8ABF-416E-B81D-0C241696B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169F7-3672-4772-81C0-2C6116B39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52AF26-1B16-4C3D-A9A7-673ADDC74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9C429C-0977-40EC-A316-80C62A7AD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8C482C-EB08-4575-A881-680FF48E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B694B-EF88-4DF6-9914-65FD471F4DF2}" type="datetimeFigureOut">
              <a:rPr lang="id-ID" smtClean="0"/>
              <a:t>22/03/2021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A55D22-6568-4971-A23F-8814C8AB5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CC9AA5-8F51-4512-AC5A-9292FFFA0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AFFC-0457-48C0-968C-2B3063A54D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42457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EA8C0-9CE6-4B82-8C32-0192D8EAC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E525A-B67B-4990-8CE7-339093DC3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B694B-EF88-4DF6-9914-65FD471F4DF2}" type="datetimeFigureOut">
              <a:rPr lang="id-ID" smtClean="0"/>
              <a:t>22/03/2021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10CEEB-17EA-4735-910F-ED7B6EEFE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05AB8-0A0F-415E-BB23-EA6F424C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AFFC-0457-48C0-968C-2B3063A54D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5082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32FA0A-FA63-4561-90C8-7B4EAECD4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B694B-EF88-4DF6-9914-65FD471F4DF2}" type="datetimeFigureOut">
              <a:rPr lang="id-ID" smtClean="0"/>
              <a:t>22/03/2021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B91FBB-6792-4EDF-A534-6A00AA49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A58FD-CE45-4361-BFF0-BDECC07B3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AFFC-0457-48C0-968C-2B3063A54D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203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EB45-F265-4939-A70D-ECF3C304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BC838-8499-4E3F-B212-1AA5F5B2D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1FB36-8E6C-497C-BE11-69A12FD0C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49F9F-E6D9-4A9D-9941-819F1272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B694B-EF88-4DF6-9914-65FD471F4DF2}" type="datetimeFigureOut">
              <a:rPr lang="id-ID" smtClean="0"/>
              <a:t>22/03/2021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F8DBD-C4CE-42FB-8485-01AC5CE4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211E3-D7CF-4784-9A39-74E28DD9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AFFC-0457-48C0-968C-2B3063A54D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21308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AF2A-6A94-4489-8B6B-E7E4B0578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2E493-1378-43BA-9E0D-27F144B6AE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AB959-E3A8-490B-B252-75262FF9C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2CE2E-54E2-4731-B14C-EBB4F1C3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B694B-EF88-4DF6-9914-65FD471F4DF2}" type="datetimeFigureOut">
              <a:rPr lang="id-ID" smtClean="0"/>
              <a:t>22/03/2021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F5820-593F-4835-8D2B-7DD4AF848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9AD92-C658-4855-9A96-F9E7EBE3D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AFFC-0457-48C0-968C-2B3063A54D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05454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6EB7D-3D7E-4867-A462-2CA4971EE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7604F-ED84-494D-9632-99D3E829D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C6A27-CF0D-4FD9-8F5D-570F8ACD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B694B-EF88-4DF6-9914-65FD471F4DF2}" type="datetimeFigureOut">
              <a:rPr lang="id-ID" smtClean="0"/>
              <a:t>22/03/2021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76194-09F7-45E4-848C-AD666A6AA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4C864-414A-4DD4-94D0-6D411E3B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AFFC-0457-48C0-968C-2B3063A54D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59516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E53A56-11E3-4CF0-93AF-B590A50F3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B56BC-8A2D-4D7D-B516-E5EACBE6D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1C89B-1076-4C3A-A3C4-5349F4F98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B694B-EF88-4DF6-9914-65FD471F4DF2}" type="datetimeFigureOut">
              <a:rPr lang="id-ID" smtClean="0"/>
              <a:t>22/03/2021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A2DDE-19C4-4AF4-933F-DA025D29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0B406-116B-4688-90C6-A576C431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8AFFC-0457-48C0-968C-2B3063A54D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4965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EBE717-E39E-45D5-A952-C6714FC30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EDB7C-C3A8-49B1-BFC5-1A703F838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338A-A251-4AF9-ADA9-AB59D2429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B694B-EF88-4DF6-9914-65FD471F4DF2}" type="datetimeFigureOut">
              <a:rPr lang="id-ID" smtClean="0"/>
              <a:t>22/03/2021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0B9B4-30DC-453D-8E65-0F827A1F5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C4C32-86D8-4B1D-9506-0386EAF47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8AFFC-0457-48C0-968C-2B3063A54D9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1938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8B24-57A3-430F-A9EA-2D89E8498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062" y="1122363"/>
            <a:ext cx="11822806" cy="2387600"/>
          </a:xfrm>
        </p:spPr>
        <p:txBody>
          <a:bodyPr>
            <a:normAutofit fontScale="90000"/>
          </a:bodyPr>
          <a:lstStyle/>
          <a:p>
            <a:br>
              <a:rPr lang="id-ID" dirty="0"/>
            </a:br>
            <a:br>
              <a:rPr lang="id-ID" dirty="0"/>
            </a:br>
            <a:r>
              <a:rPr lang="id-ID" dirty="0"/>
              <a:t>Pengenalan Structured Query Language</a:t>
            </a:r>
            <a:br>
              <a:rPr lang="id-ID" dirty="0"/>
            </a:br>
            <a:r>
              <a:rPr lang="id-ID" dirty="0"/>
              <a:t>Menggunakan PostgreSQL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2A908-8488-40D2-BB68-CCE2894045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d-ID" dirty="0"/>
          </a:p>
          <a:p>
            <a:r>
              <a:rPr lang="id-ID" dirty="0"/>
              <a:t>Praktikum 6 – Basis Data</a:t>
            </a:r>
          </a:p>
        </p:txBody>
      </p:sp>
    </p:spTree>
    <p:extLst>
      <p:ext uri="{BB962C8B-B14F-4D97-AF65-F5344CB8AC3E}">
        <p14:creationId xmlns:p14="http://schemas.microsoft.com/office/powerpoint/2010/main" val="1472787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B1A0-053D-4EA4-A15E-4FEA0852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Structured Query Language (SQL)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1CE3F-A990-48A3-B773-07CB9AC09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03546" cy="4351338"/>
          </a:xfrm>
        </p:spPr>
        <p:txBody>
          <a:bodyPr/>
          <a:lstStyle/>
          <a:p>
            <a:r>
              <a:rPr lang="id-ID" dirty="0"/>
              <a:t>Bahasa pemrograman untuk manajemen data di DBMS. </a:t>
            </a:r>
          </a:p>
          <a:p>
            <a:r>
              <a:rPr lang="id-ID" dirty="0"/>
              <a:t>Perintah Dasar-Dasar SQL </a:t>
            </a:r>
          </a:p>
          <a:p>
            <a:pPr lvl="1"/>
            <a:r>
              <a:rPr lang="id-ID" dirty="0"/>
              <a:t>DDL (Data Definition Language)</a:t>
            </a:r>
          </a:p>
          <a:p>
            <a:pPr lvl="1"/>
            <a:r>
              <a:rPr lang="id-ID" dirty="0"/>
              <a:t>DML (Data Manipulation Language)</a:t>
            </a:r>
          </a:p>
          <a:p>
            <a:pPr lvl="1"/>
            <a:r>
              <a:rPr lang="id-ID" dirty="0"/>
              <a:t>DQL (Data Query Language)</a:t>
            </a:r>
          </a:p>
          <a:p>
            <a:pPr lvl="1"/>
            <a:r>
              <a:rPr lang="id-ID" dirty="0">
                <a:solidFill>
                  <a:srgbClr val="FF0000"/>
                </a:solidFill>
              </a:rPr>
              <a:t>DCL (Data Control Language) 		=&gt; dibahas pada pertemuan 7</a:t>
            </a:r>
          </a:p>
          <a:p>
            <a:pPr lvl="1"/>
            <a:r>
              <a:rPr lang="id-ID" dirty="0">
                <a:solidFill>
                  <a:srgbClr val="FF0000"/>
                </a:solidFill>
              </a:rPr>
              <a:t>Dan Lain-Lain.</a:t>
            </a:r>
          </a:p>
          <a:p>
            <a:r>
              <a:rPr lang="id-ID" dirty="0"/>
              <a:t>DBMS terbagi menjadi PostgreSQL</a:t>
            </a:r>
            <a:r>
              <a:rPr lang="id-ID" dirty="0">
                <a:solidFill>
                  <a:srgbClr val="FF0000"/>
                </a:solidFill>
              </a:rPr>
              <a:t>, MySQL, MariaDB, SQL Server, Oracle.</a:t>
            </a:r>
          </a:p>
          <a:p>
            <a:endParaRPr lang="id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BDC04-10EA-460B-AFA8-3ACAADF84178}"/>
              </a:ext>
            </a:extLst>
          </p:cNvPr>
          <p:cNvSpPr txBox="1"/>
          <p:nvPr/>
        </p:nvSpPr>
        <p:spPr>
          <a:xfrm>
            <a:off x="7567785" y="6308209"/>
            <a:ext cx="462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Warna merah tidak dibahas pada praktikum ini.</a:t>
            </a:r>
          </a:p>
        </p:txBody>
      </p:sp>
    </p:spTree>
    <p:extLst>
      <p:ext uri="{BB962C8B-B14F-4D97-AF65-F5344CB8AC3E}">
        <p14:creationId xmlns:p14="http://schemas.microsoft.com/office/powerpoint/2010/main" val="599167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3FDD-B4DD-47DC-A975-EBED306B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Structured Query Language (SQL)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DC442-0D32-4D5B-AB33-4FA8C1333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FF338F-FFB6-4287-834C-D22FBF644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173" y="1690687"/>
            <a:ext cx="9065654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185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E711-F4FE-4845-B6BB-D843BA61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Structured Query Language (SQL)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F7A49-881F-4E7E-9FB4-6E5F4C9BF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55794" cy="4351338"/>
          </a:xfrm>
        </p:spPr>
        <p:txBody>
          <a:bodyPr>
            <a:normAutofit/>
          </a:bodyPr>
          <a:lstStyle/>
          <a:p>
            <a:r>
              <a:rPr lang="id-ID" dirty="0"/>
              <a:t>DDL</a:t>
            </a:r>
          </a:p>
          <a:p>
            <a:pPr lvl="1"/>
            <a:r>
              <a:rPr lang="id-ID" dirty="0"/>
              <a:t>Create =&gt; membuat database dan atau tabel</a:t>
            </a:r>
          </a:p>
          <a:p>
            <a:pPr lvl="1"/>
            <a:r>
              <a:rPr lang="id-ID" dirty="0"/>
              <a:t>Drop =&gt; menghapus database dan atau tabel</a:t>
            </a:r>
          </a:p>
          <a:p>
            <a:pPr lvl="1"/>
            <a:r>
              <a:rPr lang="id-ID" dirty="0"/>
              <a:t>Alter =&gt; merubah struktur database dan atau tabel</a:t>
            </a:r>
          </a:p>
          <a:p>
            <a:r>
              <a:rPr lang="id-ID" dirty="0"/>
              <a:t>DML</a:t>
            </a:r>
          </a:p>
          <a:p>
            <a:pPr lvl="1"/>
            <a:r>
              <a:rPr lang="id-ID" dirty="0"/>
              <a:t>Insert =&gt; menambahkan data ke tabel</a:t>
            </a:r>
          </a:p>
          <a:p>
            <a:pPr lvl="1"/>
            <a:r>
              <a:rPr lang="id-ID" dirty="0"/>
              <a:t>Update =&gt; menghapus data ke tabel</a:t>
            </a:r>
          </a:p>
          <a:p>
            <a:pPr lvl="1"/>
            <a:r>
              <a:rPr lang="id-ID" dirty="0"/>
              <a:t>Delete =&gt; menghapus data ke tabel</a:t>
            </a:r>
          </a:p>
          <a:p>
            <a:r>
              <a:rPr lang="id-ID" dirty="0"/>
              <a:t>DQL</a:t>
            </a:r>
          </a:p>
          <a:p>
            <a:pPr lvl="1"/>
            <a:r>
              <a:rPr lang="id-ID" dirty="0"/>
              <a:t>Select =&gt; menampilkan isi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D51E5-8660-4DC1-A89D-062839ECE20E}"/>
              </a:ext>
            </a:extLst>
          </p:cNvPr>
          <p:cNvSpPr txBox="1"/>
          <p:nvPr/>
        </p:nvSpPr>
        <p:spPr>
          <a:xfrm>
            <a:off x="6877319" y="3805887"/>
            <a:ext cx="499700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/>
              <a:t>Struktur pembuatan DBMS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000" dirty="0"/>
              <a:t>Membuat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000" dirty="0"/>
              <a:t>Membuat tabel-tabel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000" dirty="0"/>
              <a:t>Mengisi data ke tabel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000" dirty="0"/>
              <a:t>Menampilkan isi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000" dirty="0"/>
              <a:t>Jika terdapat kesalahan saat mengisi data, maka data tersebut dapat dihapus, diubah</a:t>
            </a:r>
          </a:p>
        </p:txBody>
      </p:sp>
    </p:spTree>
    <p:extLst>
      <p:ext uri="{BB962C8B-B14F-4D97-AF65-F5344CB8AC3E}">
        <p14:creationId xmlns:p14="http://schemas.microsoft.com/office/powerpoint/2010/main" val="2573518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620E0-44E3-4D66-86EC-DF64FBDE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Penulisan Perintah DDL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30426A-ADE4-4A09-9F79-111ACE0AA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9"/>
            <a:ext cx="10515600" cy="459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66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620E0-44E3-4D66-86EC-DF64FBDE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Penulisan Perintah DML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140A6-298D-4DAA-9E78-936C167FF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10515599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7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620E0-44E3-4D66-86EC-DF64FBDE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Penulisan Perintah DQL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06C40-B445-44A1-B96D-56E656F29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18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45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5E38E-4DC9-49E2-9E3C-5FAA2BC07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Pemahaman Tricky ttg perintah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46AF1-2483-4328-B33C-3F0DF4107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8510"/>
          </a:xfrm>
        </p:spPr>
        <p:txBody>
          <a:bodyPr>
            <a:normAutofit/>
          </a:bodyPr>
          <a:lstStyle/>
          <a:p>
            <a:r>
              <a:rPr lang="id-ID" dirty="0"/>
              <a:t>Secara teori data bisa dihapus menggunakan perintah DELETE.</a:t>
            </a:r>
          </a:p>
          <a:p>
            <a:r>
              <a:rPr lang="id-ID" dirty="0"/>
              <a:t>Dunia industri data tidak boleh dihapus, contoh</a:t>
            </a:r>
          </a:p>
          <a:p>
            <a:pPr lvl="1"/>
            <a:r>
              <a:rPr lang="id-ID" dirty="0"/>
              <a:t>Pejabat A melakukan korupsi sekian milyar tahun 2018 (3 tahun yang lalu).</a:t>
            </a:r>
          </a:p>
          <a:p>
            <a:pPr lvl="1"/>
            <a:r>
              <a:rPr lang="id-ID" dirty="0"/>
              <a:t>KPK mengusut aliran dana penjabat A tahun 2021 di bank ABC.</a:t>
            </a:r>
          </a:p>
          <a:p>
            <a:pPr lvl="1"/>
            <a:r>
              <a:rPr lang="id-ID" dirty="0"/>
              <a:t>Diketahui pejabat A mengirim ke koruptor 1, 2, 3. Kok bisa tau KPK ....?</a:t>
            </a:r>
          </a:p>
          <a:p>
            <a:pPr lvl="1"/>
            <a:r>
              <a:rPr lang="id-ID" dirty="0"/>
              <a:t>Pas SMA pernah bikin status 4L4Y di Facebook. Misal tahun 2010-2013</a:t>
            </a:r>
          </a:p>
          <a:p>
            <a:pPr lvl="1"/>
            <a:r>
              <a:rPr lang="id-ID" dirty="0"/>
              <a:t>Pas kuliah tahun 2021 kita buka FB, ternyata postingan 2010-2013 masih ada.</a:t>
            </a:r>
          </a:p>
          <a:p>
            <a:r>
              <a:rPr lang="id-ID" dirty="0"/>
              <a:t>Tricky nya adalah</a:t>
            </a:r>
          </a:p>
          <a:p>
            <a:pPr lvl="1"/>
            <a:r>
              <a:rPr lang="id-ID" dirty="0"/>
              <a:t>Ketika data tidak dihapus maka memory server cepet penuh.</a:t>
            </a:r>
          </a:p>
          <a:p>
            <a:pPr lvl="1"/>
            <a:r>
              <a:rPr lang="id-ID" dirty="0"/>
              <a:t>Tapi kalo data dihapus secara berkala konsistensi, integritas, ketersedian data akan terganggu atau kurang baik</a:t>
            </a:r>
          </a:p>
        </p:txBody>
      </p:sp>
    </p:spTree>
    <p:extLst>
      <p:ext uri="{BB962C8B-B14F-4D97-AF65-F5344CB8AC3E}">
        <p14:creationId xmlns:p14="http://schemas.microsoft.com/office/powerpoint/2010/main" val="2124886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7E78-171B-4C47-9D20-E8A2A8803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Studi Kasus:</a:t>
            </a:r>
            <a:br>
              <a:rPr lang="id-ID" dirty="0"/>
            </a:br>
            <a:r>
              <a:rPr lang="id-ID" dirty="0"/>
              <a:t>Tabungan Hewan Kurban di KSBP Depok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2E193-6AE2-4A2F-B8B2-9C80EF695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Pegawai KSBP terdiri dari CSO dan Teller.</a:t>
            </a:r>
          </a:p>
          <a:p>
            <a:r>
              <a:rPr lang="id-ID" dirty="0"/>
              <a:t>CSO bertugas untuk membantu masyarakat untuk menjadi nasabah</a:t>
            </a:r>
          </a:p>
          <a:p>
            <a:r>
              <a:rPr lang="id-ID" dirty="0"/>
              <a:t>Teller untuk membantu nasabah melakukan transaksi.</a:t>
            </a:r>
          </a:p>
          <a:p>
            <a:r>
              <a:rPr lang="id-ID" dirty="0"/>
              <a:t>Hewan kurban yang tersedia Sapi, Kerbau, Kambing.</a:t>
            </a:r>
          </a:p>
          <a:p>
            <a:r>
              <a:rPr lang="id-ID" dirty="0"/>
              <a:t>Setiap nasabah memiliki ahli waris.</a:t>
            </a:r>
          </a:p>
          <a:p>
            <a:r>
              <a:rPr lang="id-ID" dirty="0"/>
              <a:t>Setiap nasabah dapat membuka beberapa rekening. Setiap rekening mewakili 1 hewan kurban yang ditabung oleh 1 nasabah</a:t>
            </a:r>
          </a:p>
          <a:p>
            <a:r>
              <a:rPr lang="id-ID" dirty="0"/>
              <a:t>Rekening dapat melakukan transaksi setor kapan saja, namun transaksi penarikan di H-10 sampai H-3 Idul Adha.</a:t>
            </a:r>
          </a:p>
        </p:txBody>
      </p:sp>
    </p:spTree>
    <p:extLst>
      <p:ext uri="{BB962C8B-B14F-4D97-AF65-F5344CB8AC3E}">
        <p14:creationId xmlns:p14="http://schemas.microsoft.com/office/powerpoint/2010/main" val="2908128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BC3F-C2A6-4D73-A393-5D96FAD69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PgAdmin4 (Tampilan Awal)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A0722-A883-4445-89BF-4787B1D5D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91B114-CF4B-470E-97C6-4E2A263ED1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4" b="24118"/>
          <a:stretch/>
        </p:blipFill>
        <p:spPr>
          <a:xfrm>
            <a:off x="1144610" y="1582849"/>
            <a:ext cx="9902780" cy="491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3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A217-74E5-497F-A816-DDFDAAD4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35" y="137862"/>
            <a:ext cx="11625330" cy="1325563"/>
          </a:xfrm>
        </p:spPr>
        <p:txBody>
          <a:bodyPr/>
          <a:lstStyle/>
          <a:p>
            <a:r>
              <a:rPr lang="id-ID" dirty="0"/>
              <a:t>PgAdmin4 (Membuat Database)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B9E4CC-A983-443F-8B3E-526F5A25C9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0070" b="35204"/>
          <a:stretch/>
        </p:blipFill>
        <p:spPr>
          <a:xfrm>
            <a:off x="283335" y="1463425"/>
            <a:ext cx="4868214" cy="5039484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EA42D166-43EA-462A-A28F-7134E216F1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-26" b="1726"/>
          <a:stretch/>
        </p:blipFill>
        <p:spPr>
          <a:xfrm>
            <a:off x="5200248" y="1463425"/>
            <a:ext cx="6724650" cy="403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97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A217-74E5-497F-A816-DDFDAAD4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35" y="137862"/>
            <a:ext cx="11625330" cy="1325563"/>
          </a:xfrm>
        </p:spPr>
        <p:txBody>
          <a:bodyPr/>
          <a:lstStyle/>
          <a:p>
            <a:r>
              <a:rPr lang="id-ID" dirty="0"/>
              <a:t>PgAdmin4 (Membuat Tabel-Tabel)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1B4B74-8B5A-4736-9851-15CAFA6B5E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331" b="21301"/>
          <a:stretch/>
        </p:blipFill>
        <p:spPr>
          <a:xfrm>
            <a:off x="283335" y="1325563"/>
            <a:ext cx="3129566" cy="5394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F2B2AF-3440-494B-B3C8-1192E9CA32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77" t="17449" r="16021" b="37082"/>
          <a:stretch/>
        </p:blipFill>
        <p:spPr>
          <a:xfrm>
            <a:off x="3528811" y="1325562"/>
            <a:ext cx="8379853" cy="413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94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A217-74E5-497F-A816-DDFDAAD4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35" y="137862"/>
            <a:ext cx="11625330" cy="1325563"/>
          </a:xfrm>
        </p:spPr>
        <p:txBody>
          <a:bodyPr/>
          <a:lstStyle/>
          <a:p>
            <a:r>
              <a:rPr lang="id-ID" dirty="0"/>
              <a:t>PgAdmin4 (Mengisi data dan melihat isi data)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55BE6-9251-40A3-977E-886773A96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35" y="1195387"/>
            <a:ext cx="11625330" cy="552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59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A217-74E5-497F-A816-DDFDAAD4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35" y="137862"/>
            <a:ext cx="11625330" cy="1325563"/>
          </a:xfrm>
        </p:spPr>
        <p:txBody>
          <a:bodyPr/>
          <a:lstStyle/>
          <a:p>
            <a:r>
              <a:rPr lang="id-ID" dirty="0"/>
              <a:t>Dbeaver (Tampilan Awal)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C3CC8E-E8FD-40CA-B278-525206D30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35" y="1210615"/>
            <a:ext cx="11659775" cy="55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53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A217-74E5-497F-A816-DDFDAAD4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35" y="137862"/>
            <a:ext cx="11625330" cy="1325563"/>
          </a:xfrm>
        </p:spPr>
        <p:txBody>
          <a:bodyPr/>
          <a:lstStyle/>
          <a:p>
            <a:r>
              <a:rPr lang="id-ID" dirty="0"/>
              <a:t>Dbeaver (Open koneksi ke PostgreSQL)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59C1E3-C2B8-4A5E-A313-F8150690A8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500" b="62260"/>
          <a:stretch/>
        </p:blipFill>
        <p:spPr>
          <a:xfrm>
            <a:off x="463638" y="1305804"/>
            <a:ext cx="5451954" cy="4246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92D993-B170-46CF-9295-D356B42247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634" t="8242" r="28275" b="17474"/>
          <a:stretch/>
        </p:blipFill>
        <p:spPr>
          <a:xfrm>
            <a:off x="6276410" y="1307862"/>
            <a:ext cx="5048620" cy="49392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9FCA15-7288-4DD0-AFEA-68D42C625795}"/>
              </a:ext>
            </a:extLst>
          </p:cNvPr>
          <p:cNvSpPr txBox="1"/>
          <p:nvPr/>
        </p:nvSpPr>
        <p:spPr>
          <a:xfrm>
            <a:off x="463638" y="6350806"/>
            <a:ext cx="4864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Pilih menu Database &gt;  New Database Connection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2560B0-9335-40AC-8C8E-9C12CC4DC832}"/>
              </a:ext>
            </a:extLst>
          </p:cNvPr>
          <p:cNvSpPr txBox="1"/>
          <p:nvPr/>
        </p:nvSpPr>
        <p:spPr>
          <a:xfrm>
            <a:off x="6276410" y="6350806"/>
            <a:ext cx="281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Pilih logo PostgreSQL &gt; Next</a:t>
            </a:r>
          </a:p>
        </p:txBody>
      </p:sp>
    </p:spTree>
    <p:extLst>
      <p:ext uri="{BB962C8B-B14F-4D97-AF65-F5344CB8AC3E}">
        <p14:creationId xmlns:p14="http://schemas.microsoft.com/office/powerpoint/2010/main" val="2945104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A217-74E5-497F-A816-DDFDAAD4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35" y="137862"/>
            <a:ext cx="11625330" cy="1325563"/>
          </a:xfrm>
        </p:spPr>
        <p:txBody>
          <a:bodyPr/>
          <a:lstStyle/>
          <a:p>
            <a:r>
              <a:rPr lang="id-ID" dirty="0"/>
              <a:t>Dbeaver (Open koneksi ke PostgreSQL)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1D4109-9194-400F-BC17-8DD7252E2B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3" t="6340" r="1820" b="1951"/>
          <a:stretch/>
        </p:blipFill>
        <p:spPr>
          <a:xfrm>
            <a:off x="283335" y="1158132"/>
            <a:ext cx="5215945" cy="50356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EA55FA-3745-4AD4-BFA5-75AD7355CE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7" t="6279" r="2731" b="1450"/>
          <a:stretch/>
        </p:blipFill>
        <p:spPr>
          <a:xfrm>
            <a:off x="5623773" y="1158132"/>
            <a:ext cx="5215945" cy="50356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964DB8-0783-4DB4-8479-C56D9AC22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946" y="3626371"/>
            <a:ext cx="4180719" cy="20734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9AF15B-6EDB-4798-A207-030263FCCD9F}"/>
              </a:ext>
            </a:extLst>
          </p:cNvPr>
          <p:cNvSpPr txBox="1"/>
          <p:nvPr/>
        </p:nvSpPr>
        <p:spPr>
          <a:xfrm>
            <a:off x="283335" y="6350806"/>
            <a:ext cx="10956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Jika sudah sesuai, klik test connection kemudian finish. Note harus terhubung internet untuk download driver JDBC</a:t>
            </a:r>
          </a:p>
        </p:txBody>
      </p:sp>
    </p:spTree>
    <p:extLst>
      <p:ext uri="{BB962C8B-B14F-4D97-AF65-F5344CB8AC3E}">
        <p14:creationId xmlns:p14="http://schemas.microsoft.com/office/powerpoint/2010/main" val="4134599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A217-74E5-497F-A816-DDFDAAD4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35" y="137862"/>
            <a:ext cx="11625330" cy="1325563"/>
          </a:xfrm>
        </p:spPr>
        <p:txBody>
          <a:bodyPr/>
          <a:lstStyle/>
          <a:p>
            <a:r>
              <a:rPr lang="id-ID" dirty="0"/>
              <a:t>Dbeaver (Membuat Database)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B7AFC7-1611-4BA4-BF0B-61237FFE1A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479" b="29004"/>
          <a:stretch/>
        </p:blipFill>
        <p:spPr>
          <a:xfrm>
            <a:off x="283334" y="1186530"/>
            <a:ext cx="5679583" cy="53688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1D9AC41-9586-49DF-88E7-1C1D78143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186530"/>
            <a:ext cx="4387402" cy="491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69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A217-74E5-497F-A816-DDFDAAD4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35" y="137862"/>
            <a:ext cx="11625330" cy="1325563"/>
          </a:xfrm>
        </p:spPr>
        <p:txBody>
          <a:bodyPr/>
          <a:lstStyle/>
          <a:p>
            <a:r>
              <a:rPr lang="id-ID" dirty="0"/>
              <a:t>Dbeaver (Mempersiapkan EditorSQL)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FADDCE-B34B-41D6-B6AF-AA36F080C2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014" b="31634"/>
          <a:stretch/>
        </p:blipFill>
        <p:spPr>
          <a:xfrm>
            <a:off x="283335" y="1238045"/>
            <a:ext cx="5306096" cy="54820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C8CEFF-B3A3-4F1C-BF17-F12E3F5512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495" r="11172" b="69337"/>
          <a:stretch/>
        </p:blipFill>
        <p:spPr>
          <a:xfrm>
            <a:off x="5646312" y="1238045"/>
            <a:ext cx="6262353" cy="9151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0AE0CD-93CC-4A75-A35A-74B9CF82A64D}"/>
              </a:ext>
            </a:extLst>
          </p:cNvPr>
          <p:cNvSpPr txBox="1"/>
          <p:nvPr/>
        </p:nvSpPr>
        <p:spPr>
          <a:xfrm>
            <a:off x="5646312" y="5490720"/>
            <a:ext cx="61583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Klik public@postgres &gt;</a:t>
            </a:r>
          </a:p>
          <a:p>
            <a:r>
              <a:rPr lang="id-ID" dirty="0"/>
              <a:t>klik 1x db_tabungan_kurban &gt; Klik 2x (double klik) public. </a:t>
            </a:r>
          </a:p>
          <a:p>
            <a:endParaRPr lang="id-ID" dirty="0"/>
          </a:p>
          <a:p>
            <a:r>
              <a:rPr lang="id-ID" dirty="0"/>
              <a:t>Agar setiap perintah dari SQL disimpan ke db_tabungan_kurban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E58C3F-1DC7-452D-B042-3126B7D22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140" y="2243137"/>
            <a:ext cx="6257525" cy="23717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D64789-75DB-4A8B-B690-D19186F75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312" y="4728720"/>
            <a:ext cx="6257526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39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A217-74E5-497F-A816-DDFDAAD4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35" y="137862"/>
            <a:ext cx="11625330" cy="1325563"/>
          </a:xfrm>
        </p:spPr>
        <p:txBody>
          <a:bodyPr/>
          <a:lstStyle/>
          <a:p>
            <a:r>
              <a:rPr lang="id-ID" dirty="0"/>
              <a:t>Dbeaver (Membuat tabel-tabel)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0948B-0DD0-405C-98A8-22C89D5A47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78" t="1987" r="9788" b="29004"/>
          <a:stretch/>
        </p:blipFill>
        <p:spPr>
          <a:xfrm>
            <a:off x="441373" y="1115396"/>
            <a:ext cx="11467291" cy="56047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15E628-5837-4426-BA3F-4C35AC10ACAF}"/>
              </a:ext>
            </a:extLst>
          </p:cNvPr>
          <p:cNvSpPr txBox="1"/>
          <p:nvPr/>
        </p:nvSpPr>
        <p:spPr>
          <a:xfrm>
            <a:off x="7250805" y="4785312"/>
            <a:ext cx="36506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Pilih query yg akan jalankan/eksekusi</a:t>
            </a:r>
          </a:p>
          <a:p>
            <a:r>
              <a:rPr lang="id-ID" dirty="0"/>
              <a:t>kemudian tekan CTRL + Enter</a:t>
            </a:r>
          </a:p>
        </p:txBody>
      </p:sp>
    </p:spTree>
    <p:extLst>
      <p:ext uri="{BB962C8B-B14F-4D97-AF65-F5344CB8AC3E}">
        <p14:creationId xmlns:p14="http://schemas.microsoft.com/office/powerpoint/2010/main" val="2145893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A217-74E5-497F-A816-DDFDAAD4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35" y="137862"/>
            <a:ext cx="11625330" cy="1325563"/>
          </a:xfrm>
        </p:spPr>
        <p:txBody>
          <a:bodyPr/>
          <a:lstStyle/>
          <a:p>
            <a:r>
              <a:rPr lang="id-ID" dirty="0"/>
              <a:t>Dbeaver (Mengisi data dan melihat isi data)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B95967-37BE-40B8-9527-539B6C30D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35" y="1266824"/>
            <a:ext cx="11625330" cy="545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50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A2C036-064D-41E0-8B20-87289E1FB059}"/>
              </a:ext>
            </a:extLst>
          </p:cNvPr>
          <p:cNvSpPr txBox="1"/>
          <p:nvPr/>
        </p:nvSpPr>
        <p:spPr>
          <a:xfrm>
            <a:off x="4387359" y="2998113"/>
            <a:ext cx="341728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5000" dirty="0"/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3691660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534</Words>
  <Application>Microsoft Office PowerPoint</Application>
  <PresentationFormat>Widescreen</PresentationFormat>
  <Paragraphs>74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  Pengenalan Structured Query Language Menggunakan PostgreSQL</vt:lpstr>
      <vt:lpstr>Structured Query Language (SQL)</vt:lpstr>
      <vt:lpstr>Structured Query Language (SQL)</vt:lpstr>
      <vt:lpstr>Structured Query Language (SQL)</vt:lpstr>
      <vt:lpstr>Penulisan Perintah DDL</vt:lpstr>
      <vt:lpstr>Penulisan Perintah DML</vt:lpstr>
      <vt:lpstr>Penulisan Perintah DQL</vt:lpstr>
      <vt:lpstr>Pemahaman Tricky ttg perintah DELETE</vt:lpstr>
      <vt:lpstr>Studi Kasus: Tabungan Hewan Kurban di KSBP Depok </vt:lpstr>
      <vt:lpstr>PgAdmin4 (Tampilan Awal) </vt:lpstr>
      <vt:lpstr>PgAdmin4 (Membuat Database) </vt:lpstr>
      <vt:lpstr>PgAdmin4 (Membuat Tabel-Tabel) </vt:lpstr>
      <vt:lpstr>PgAdmin4 (Mengisi data dan melihat isi data) </vt:lpstr>
      <vt:lpstr>Dbeaver (Tampilan Awal)</vt:lpstr>
      <vt:lpstr>Dbeaver (Open koneksi ke PostgreSQL)</vt:lpstr>
      <vt:lpstr>Dbeaver (Open koneksi ke PostgreSQL)</vt:lpstr>
      <vt:lpstr>Dbeaver (Membuat Database)</vt:lpstr>
      <vt:lpstr>Dbeaver (Mempersiapkan EditorSQL)</vt:lpstr>
      <vt:lpstr>Dbeaver (Membuat tabel-tabel)</vt:lpstr>
      <vt:lpstr>Dbeaver (Mengisi data dan melihat isi data)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Lunox</dc:creator>
  <cp:lastModifiedBy>Aryajaya Alamsyah</cp:lastModifiedBy>
  <cp:revision>45</cp:revision>
  <dcterms:created xsi:type="dcterms:W3CDTF">2021-03-16T17:56:57Z</dcterms:created>
  <dcterms:modified xsi:type="dcterms:W3CDTF">2021-03-22T10:49:42Z</dcterms:modified>
</cp:coreProperties>
</file>